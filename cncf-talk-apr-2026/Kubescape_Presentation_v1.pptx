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3" r:id="rId3"/>
    <p:sldId id="275" r:id="rId4"/>
    <p:sldId id="273" r:id="rId5"/>
    <p:sldId id="274" r:id="rId6"/>
    <p:sldId id="262" r:id="rId7"/>
    <p:sldId id="261" r:id="rId8"/>
    <p:sldId id="258" r:id="rId9"/>
    <p:sldId id="272" r:id="rId10"/>
    <p:sldId id="264" r:id="rId11"/>
    <p:sldId id="266" r:id="rId12"/>
    <p:sldId id="271" r:id="rId13"/>
    <p:sldId id="260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65"/>
    <p:restoredTop sz="94721"/>
  </p:normalViewPr>
  <p:slideViewPr>
    <p:cSldViewPr snapToGrid="0">
      <p:cViewPr varScale="1">
        <p:scale>
          <a:sx n="71" d="100"/>
          <a:sy n="71" d="100"/>
        </p:scale>
        <p:origin x="1968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87CA-499E-DD4E-9E68-531BE6698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1D354-D779-3D46-3B41-25DC3C10E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308A8-D78D-763A-EE0E-FBBF5FC0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2D67-9322-7557-B432-7635D735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9CF2-C4FB-73D4-10CB-5D7B95A8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4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16211-6BDF-22E8-D7E7-04034FAB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7DEB-39D9-FD82-0991-6E7C0EE05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64D9E-30D1-75E3-89D4-D841CD51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61557-16F6-9668-B35C-0EBDF5A30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C8143-D832-057C-F752-552B9A9E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9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C589-851A-5BDD-D82F-1BDA0C6B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13F65-AD6B-2A8D-FBE7-D4FE47C9B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CE10F-83AB-F393-6067-F485692F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8B4D-7CE8-62B2-3FA8-AB40ECB8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493D8-2C9C-F358-CB16-382F8010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6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6369-3002-3CF3-A777-AE1D518E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B9CB9-6E1C-1C2B-2756-88F4BB2245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25A36-261B-005F-0F94-C20F2B30D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05611-BC88-F1E3-D0FC-4DBF9F23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7931B-C4D0-91B0-460E-5A77DFE98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B5184-8751-78A5-984A-348850BC6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B804-60C6-22A2-CEBA-2B77B682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0E7D-199D-AB04-DAE4-555DFE7E8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8AED1-CA9C-F57C-6033-66195973A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D83FD-35F7-4F9E-42AD-83DCC9CC4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E7A29-9202-5DCE-50A9-406B5CFE4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DD699E-97CD-EE24-29C6-06429EA9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DE1BB-3E6F-F999-BF50-CFC94D48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5BBBF-3B7C-9EAF-3205-9961C5A3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9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31B2-56C1-6875-BFAA-81A06C84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7C00F2-3629-DEDE-969A-51CD8F59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F7654-F749-9751-BF52-8691B481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D7630-4BF7-7808-63F0-915F43FA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0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FC3DEC-BD41-B562-AF08-FEC3FB0D1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2D85A7-D966-5693-B050-55548720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12576-FB2D-5DE3-FFFF-6D1444A1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35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04394-DD6E-E972-8EBA-7749A4AB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002F-604E-F6F9-5C21-D9A8035FE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F912C-FCE6-52FC-0910-88D7A6917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18EC4-A361-0240-8C43-D05CE596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8D8D4-8A52-5231-25F4-A15D42922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5AE37-96A0-0423-1E3B-44D1EFA1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8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4FE7-120D-6672-F611-3D04E85C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57701-CC68-3392-9278-7AFEAB982D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FD353-E65C-97B5-66CC-DA54DCE11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B16CE-2611-5B6F-F0F2-2744C927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47622-E554-E9DE-D8AB-68B1E8E7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4F6B4-E5B7-4A2D-FF9E-53E67A935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871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397A-32D2-7179-CBCF-397F7010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34273-2E11-A073-E48E-FF5417921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69718-735B-C9A7-51D4-7400193B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14FD8-4684-228F-7874-4B8441CEC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1B94F-320D-2A0B-484C-570D06B6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32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20B7EF-9123-1921-D8E4-6E168A54B0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98C1FE-369F-0C0D-7918-84FBF1DDC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4557-6494-78B1-4E6A-200D318D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25641-8C87-5E1C-159A-F8012248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468EB-B381-B196-14DC-939378D0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4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3BDA8-775E-4D31-05AB-8C87743DC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208DA-6250-FD9C-AE7C-5FC474280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51D09-0175-7402-7B7A-DA206561A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7EFB0-039A-E445-A2B2-500425CC4E9A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578F-31A0-77DC-C9A8-B42B1418A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75D33-BCE9-8684-B954-93BA7B8C6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B6DC5E-52EA-9548-9D54-D1C84C019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5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3I9PkvZ80BQ?feature=oembed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cncf.io/phippy/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scape.io/docs/frameworks-and-controls/controls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kubescape.io/" TargetMode="External"/><Relationship Id="rId3" Type="http://schemas.openxmlformats.org/officeDocument/2006/relationships/image" Target="../media/image2.jpg"/><Relationship Id="rId7" Type="http://schemas.openxmlformats.org/officeDocument/2006/relationships/hyperlink" Target="https://www.cncf.io/blog/2025/04/22/these-kubernetes-mistakes-will-make-you-an-easy-target-for-hackers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icrosoft.github.io/Threat-Matrix-for-Kubernetes/" TargetMode="External"/><Relationship Id="rId11" Type="http://schemas.openxmlformats.org/officeDocument/2006/relationships/hyperlink" Target="https://github.com/kubescape/regolibrary/tree/master/frameworks" TargetMode="External"/><Relationship Id="rId5" Type="http://schemas.openxmlformats.org/officeDocument/2006/relationships/hyperlink" Target="https://www.armosec.io/blog/nsa-cisa-kubernetes-hardening-guide/" TargetMode="External"/><Relationship Id="rId10" Type="http://schemas.openxmlformats.org/officeDocument/2006/relationships/hyperlink" Target="https://kubescape.io/docs/controls/" TargetMode="External"/><Relationship Id="rId4" Type="http://schemas.openxmlformats.org/officeDocument/2006/relationships/hyperlink" Target="https://www.cisecurity.org/cis-benchmarks" TargetMode="External"/><Relationship Id="rId9" Type="http://schemas.openxmlformats.org/officeDocument/2006/relationships/hyperlink" Target="https://kubescape.io/doc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6168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86E7F-7637-6688-BE93-515426761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EFE66AD-9AC2-E354-4DEE-AFBB6FFDDD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70B4CB-38AB-A266-AF37-579B9C0E50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E317DF-90B2-5839-D9B6-7A685E3EA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3D142D-7A82-89F6-093B-5E59A1F0EB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E6C771-08D6-EB47-B091-EF91D8BCE3B9}"/>
              </a:ext>
            </a:extLst>
          </p:cNvPr>
          <p:cNvSpPr txBox="1"/>
          <p:nvPr/>
        </p:nvSpPr>
        <p:spPr>
          <a:xfrm>
            <a:off x="1693906" y="73860"/>
            <a:ext cx="88041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303030"/>
                </a:solidFill>
                <a:effectLst/>
                <a:latin typeface="Chalkboard" panose="03050602040202020205" pitchFamily="66" charset="77"/>
                <a:cs typeface="Baloo Bhaijaan" panose="03080902040302020200" pitchFamily="66" charset="-78"/>
              </a:rPr>
              <a:t>Getting Started with Kubescape</a:t>
            </a:r>
            <a:endParaRPr lang="en-US" sz="4400" b="1" dirty="0">
              <a:latin typeface="Chalkboard" panose="03050602040202020205" pitchFamily="66" charset="77"/>
              <a:cs typeface="Baloo Bhaijaan" panose="03080902040302020200" pitchFamily="66" charset="-78"/>
            </a:endParaRPr>
          </a:p>
        </p:txBody>
      </p:sp>
      <p:pic>
        <p:nvPicPr>
          <p:cNvPr id="14" name="Picture 13" descr="A person with a mustache and a white spot on his forehead&#10;&#10;AI-generated content may be incorrect.">
            <a:extLst>
              <a:ext uri="{FF2B5EF4-FFF2-40B4-BE49-F238E27FC236}">
                <a16:creationId xmlns:a16="http://schemas.microsoft.com/office/drawing/2014/main" id="{112EEBDE-58B8-39E7-86E4-8105D9CF12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145" b="32139"/>
          <a:stretch>
            <a:fillRect/>
          </a:stretch>
        </p:blipFill>
        <p:spPr>
          <a:xfrm>
            <a:off x="10272906" y="5228403"/>
            <a:ext cx="1646535" cy="1595336"/>
          </a:xfrm>
          <a:prstGeom prst="ellipse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AF0019B-218A-421F-A324-7C2AD4AA64A9}"/>
              </a:ext>
            </a:extLst>
          </p:cNvPr>
          <p:cNvSpPr txBox="1"/>
          <p:nvPr/>
        </p:nvSpPr>
        <p:spPr>
          <a:xfrm>
            <a:off x="5239967" y="5808076"/>
            <a:ext cx="49149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latin typeface="Chalkboard" panose="03050602040202020205" pitchFamily="66" charset="77"/>
              </a:rPr>
              <a:t>Chandra Mohan Dhanasekaran</a:t>
            </a:r>
          </a:p>
          <a:p>
            <a:pPr algn="r"/>
            <a:r>
              <a:rPr lang="en-US" sz="2000" b="1" dirty="0">
                <a:latin typeface="Chalkboard" panose="03050602040202020205" pitchFamily="66" charset="77"/>
              </a:rPr>
              <a:t>Senior Cloud Infrastructure Architect</a:t>
            </a:r>
          </a:p>
          <a:p>
            <a:pPr algn="r"/>
            <a:r>
              <a:rPr lang="en-US" sz="2000" b="1" dirty="0">
                <a:latin typeface="Chalkboard" panose="03050602040202020205" pitchFamily="66" charset="77"/>
              </a:rPr>
              <a:t>IBM Labs, Bengaluru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26E1FF-F6E0-221A-D88B-4B2206F22600}"/>
              </a:ext>
            </a:extLst>
          </p:cNvPr>
          <p:cNvSpPr txBox="1"/>
          <p:nvPr/>
        </p:nvSpPr>
        <p:spPr>
          <a:xfrm>
            <a:off x="1114168" y="714607"/>
            <a:ext cx="11077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303030"/>
                </a:solidFill>
                <a:effectLst/>
                <a:latin typeface="Chalkboard" panose="03050602040202020205" pitchFamily="66" charset="77"/>
                <a:cs typeface="Baloo Bhaijaan" panose="03080902040302020200" pitchFamily="66" charset="-78"/>
              </a:rPr>
              <a:t>Practical Kubernetes Security Scanning</a:t>
            </a:r>
            <a:endParaRPr lang="en-US" sz="4000" b="1" dirty="0">
              <a:latin typeface="Chalkboard" panose="03050602040202020205" pitchFamily="66" charset="77"/>
              <a:cs typeface="Baloo Bhaijaan" panose="03080902040302020200" pitchFamily="66" charset="-78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2045C26-F572-CEDE-C069-B930B637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85" t="14955" r="14745" b="16052"/>
          <a:stretch>
            <a:fillRect/>
          </a:stretch>
        </p:blipFill>
        <p:spPr>
          <a:xfrm>
            <a:off x="1202102" y="5077215"/>
            <a:ext cx="720986" cy="70788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3FA30F4-869C-5008-BEEE-98CCDF84C117}"/>
              </a:ext>
            </a:extLst>
          </p:cNvPr>
          <p:cNvSpPr txBox="1"/>
          <p:nvPr/>
        </p:nvSpPr>
        <p:spPr>
          <a:xfrm>
            <a:off x="1931894" y="5048998"/>
            <a:ext cx="31947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halkboard" panose="03050602040202020205" pitchFamily="66" charset="77"/>
              </a:rPr>
              <a:t>Cloud Native Mysore</a:t>
            </a:r>
          </a:p>
          <a:p>
            <a:pPr algn="ctr"/>
            <a:r>
              <a:rPr lang="en-US" sz="2400" b="1" dirty="0">
                <a:latin typeface="Chalkboard" panose="03050602040202020205" pitchFamily="66" charset="77"/>
              </a:rPr>
              <a:t>Kickoff Event</a:t>
            </a:r>
          </a:p>
        </p:txBody>
      </p:sp>
      <p:pic>
        <p:nvPicPr>
          <p:cNvPr id="23" name="Graphic 22" descr="Daily calendar with solid fill">
            <a:extLst>
              <a:ext uri="{FF2B5EF4-FFF2-40B4-BE49-F238E27FC236}">
                <a16:creationId xmlns:a16="http://schemas.microsoft.com/office/drawing/2014/main" id="{9FA65F28-165E-3994-7B18-571E1CDF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6172" y="4735176"/>
            <a:ext cx="1072900" cy="10729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9BB3616-5326-7CE0-1D00-04234A95E53D}"/>
              </a:ext>
            </a:extLst>
          </p:cNvPr>
          <p:cNvSpPr txBox="1"/>
          <p:nvPr/>
        </p:nvSpPr>
        <p:spPr>
          <a:xfrm>
            <a:off x="7867318" y="5088310"/>
            <a:ext cx="2489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halkboard" panose="03050602040202020205" pitchFamily="66" charset="77"/>
              </a:rPr>
              <a:t>April 25</a:t>
            </a:r>
            <a:r>
              <a:rPr lang="en-US" sz="2400" b="1" baseline="30000" dirty="0">
                <a:latin typeface="Chalkboard" panose="03050602040202020205" pitchFamily="66" charset="77"/>
              </a:rPr>
              <a:t>th</a:t>
            </a:r>
            <a:r>
              <a:rPr lang="en-US" sz="2400" b="1" dirty="0">
                <a:latin typeface="Chalkboard" panose="03050602040202020205" pitchFamily="66" charset="77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670815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921B4-C036-6403-0D07-8AF3D4645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D8C43A5-681C-D852-6389-B446AC9ADA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"/>
          </a:blip>
          <a:srcRect l="19826" r="19239" b="26168"/>
          <a:stretch>
            <a:fillRect/>
          </a:stretch>
        </p:blipFill>
        <p:spPr>
          <a:xfrm>
            <a:off x="4508157" y="2069245"/>
            <a:ext cx="3175686" cy="2719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245E3-BEF5-97A0-36F5-B523288819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3241F-4A0C-0B70-8239-7F1D7ED5D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78991E-DEE3-2F69-55A0-677BD12276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4A66FB-B89C-8327-5182-6C555B918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144392-15F7-31B6-1184-A44D809A28BA}"/>
              </a:ext>
            </a:extLst>
          </p:cNvPr>
          <p:cNvSpPr txBox="1"/>
          <p:nvPr/>
        </p:nvSpPr>
        <p:spPr>
          <a:xfrm>
            <a:off x="5012690" y="12356"/>
            <a:ext cx="216661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01980-58F4-8C37-795E-FBCF26BB2DE6}"/>
              </a:ext>
            </a:extLst>
          </p:cNvPr>
          <p:cNvSpPr txBox="1"/>
          <p:nvPr/>
        </p:nvSpPr>
        <p:spPr>
          <a:xfrm>
            <a:off x="1557680" y="924991"/>
            <a:ext cx="9983532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About Me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Phippy and Friends </a:t>
            </a:r>
            <a:r>
              <a:rPr lang="en-US" sz="3000" b="1" dirty="0">
                <a:latin typeface="Chalkboard" panose="03050602040202020205" pitchFamily="66" charset="77"/>
                <a:sym typeface="Wingdings" pitchFamily="2" charset="2"/>
              </a:rPr>
              <a:t></a:t>
            </a:r>
            <a:endParaRPr lang="en-US" sz="3000" b="1" dirty="0">
              <a:latin typeface="Chalkboard" panose="03050602040202020205" pitchFamily="66" charset="7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What is Kubescape?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600" b="1" dirty="0">
                <a:effectLst>
                  <a:glow rad="101600">
                    <a:srgbClr val="FF0000">
                      <a:alpha val="60000"/>
                    </a:srgbClr>
                  </a:glow>
                </a:effectLst>
                <a:latin typeface="Chalkboard" panose="03050602040202020205" pitchFamily="66" charset="77"/>
              </a:rPr>
              <a:t>The Core Problem</a:t>
            </a:r>
            <a:endParaRPr lang="en-US" sz="3000" b="1" dirty="0">
              <a:effectLst>
                <a:glow rad="101600">
                  <a:srgbClr val="FF0000">
                    <a:alpha val="60000"/>
                  </a:srgbClr>
                </a:glow>
              </a:effectLst>
              <a:latin typeface="Chalkboard" panose="03050602040202020205" pitchFamily="66" charset="77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Security Frameworks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Advantages of Kubescape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Hands-On Demo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3000" b="1" dirty="0">
                <a:latin typeface="Chalkboard" panose="03050602040202020205" pitchFamily="66" charset="77"/>
              </a:rPr>
              <a:t>Q&amp;A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Graphic 4" descr="Skull with solid fill">
            <a:extLst>
              <a:ext uri="{FF2B5EF4-FFF2-40B4-BE49-F238E27FC236}">
                <a16:creationId xmlns:a16="http://schemas.microsoft.com/office/drawing/2014/main" id="{533DD0D7-094A-0639-5B4F-21FB0008E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999" y="305035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22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BF44-D7F7-6F5E-E832-97F784FD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5247EA-A65E-B79E-BEB4-13A597674FB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19"/>
          <a:stretch>
            <a:fillRect/>
          </a:stretch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pic>
        <p:nvPicPr>
          <p:cNvPr id="3" name="Picture 2" descr="A cover of a book&#10;&#10;Description automatically generated">
            <a:extLst>
              <a:ext uri="{FF2B5EF4-FFF2-40B4-BE49-F238E27FC236}">
                <a16:creationId xmlns:a16="http://schemas.microsoft.com/office/drawing/2014/main" id="{A9EA7EC9-E9B8-EFC2-77C1-FF55FA16D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2335426"/>
            <a:ext cx="2308587" cy="2848607"/>
          </a:xfrm>
          <a:prstGeom prst="roundRect">
            <a:avLst>
              <a:gd name="adj" fmla="val 16667"/>
            </a:avLst>
          </a:prstGeom>
          <a:ln w="38100">
            <a:solidFill>
              <a:srgbClr val="8EFA0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Google Shape;209;p43">
            <a:extLst>
              <a:ext uri="{FF2B5EF4-FFF2-40B4-BE49-F238E27FC236}">
                <a16:creationId xmlns:a16="http://schemas.microsoft.com/office/drawing/2014/main" id="{99E91D23-7FF3-C055-AA96-375E539CC5EC}"/>
              </a:ext>
            </a:extLst>
          </p:cNvPr>
          <p:cNvSpPr txBox="1">
            <a:spLocks/>
          </p:cNvSpPr>
          <p:nvPr/>
        </p:nvSpPr>
        <p:spPr>
          <a:xfrm>
            <a:off x="415600" y="2885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SzPts val="990"/>
            </a:pPr>
            <a:r>
              <a:rPr lang="en-US" sz="5400" b="1" dirty="0">
                <a:solidFill>
                  <a:schemeClr val="accent2"/>
                </a:solidFill>
                <a:latin typeface="Stencil" pitchFamily="82" charset="77"/>
              </a:rPr>
              <a:t>About Me</a:t>
            </a:r>
            <a:endParaRPr lang="en-US" sz="3760" b="1" dirty="0">
              <a:solidFill>
                <a:schemeClr val="accent2"/>
              </a:solidFill>
              <a:latin typeface="Stencil" pitchFamily="82" charset="77"/>
            </a:endParaRPr>
          </a:p>
        </p:txBody>
      </p:sp>
      <p:sp>
        <p:nvSpPr>
          <p:cNvPr id="6" name="Google Shape;210;p43">
            <a:extLst>
              <a:ext uri="{FF2B5EF4-FFF2-40B4-BE49-F238E27FC236}">
                <a16:creationId xmlns:a16="http://schemas.microsoft.com/office/drawing/2014/main" id="{060D1924-D92E-975C-67C5-DE62918EE042}"/>
              </a:ext>
            </a:extLst>
          </p:cNvPr>
          <p:cNvSpPr txBox="1">
            <a:spLocks/>
          </p:cNvSpPr>
          <p:nvPr/>
        </p:nvSpPr>
        <p:spPr>
          <a:xfrm>
            <a:off x="415600" y="1438903"/>
            <a:ext cx="11360800" cy="5234491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txBody>
          <a:bodyPr spcFirstLastPara="1" vert="horz" wrap="square" lIns="121900" tIns="121900" rIns="121900" bIns="121900" rtlCol="0" anchor="t" anchorCtr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A Proud Dad of 2 Amazing Boys 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Senior Cloud Infra Architect @ IBM Labs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16+ Years experience in software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Grafana &amp; Kubernetes Fan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Docker Captain and HashiCorp Ambassador 2025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Chalkboard" panose="03050602040202020205" pitchFamily="66" charset="77"/>
              </a:rPr>
              <a:t>Event Speaker and Terraform Book Author</a:t>
            </a:r>
          </a:p>
          <a:p>
            <a:pPr marL="380990" indent="-380990" algn="l">
              <a:spcAft>
                <a:spcPts val="1600"/>
              </a:spcAft>
              <a:buClr>
                <a:schemeClr val="bg1"/>
              </a:buCl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Passionate to connect with students and help building the right skills!</a:t>
            </a:r>
            <a:endParaRPr lang="en-US" b="1" dirty="0"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  <a:latin typeface="Chalkboard" panose="03050602040202020205" pitchFamily="66" charset="77"/>
            </a:endParaRPr>
          </a:p>
        </p:txBody>
      </p:sp>
      <p:pic>
        <p:nvPicPr>
          <p:cNvPr id="7" name="Picture 6" descr="A child holding a baby&#10;&#10;Description automatically generated">
            <a:extLst>
              <a:ext uri="{FF2B5EF4-FFF2-40B4-BE49-F238E27FC236}">
                <a16:creationId xmlns:a16="http://schemas.microsoft.com/office/drawing/2014/main" id="{AB9C070E-D9D1-50A8-5556-3B00C009225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71" b="43367"/>
          <a:stretch/>
        </p:blipFill>
        <p:spPr>
          <a:xfrm>
            <a:off x="6952270" y="288567"/>
            <a:ext cx="2368241" cy="236824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38100" cap="sq">
            <a:solidFill>
              <a:schemeClr val="accent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Google Shape;403;p59">
            <a:extLst>
              <a:ext uri="{FF2B5EF4-FFF2-40B4-BE49-F238E27FC236}">
                <a16:creationId xmlns:a16="http://schemas.microsoft.com/office/drawing/2014/main" id="{63B92790-FF37-FAC2-3437-43F5A6E09D8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9" r="9"/>
          <a:stretch/>
        </p:blipFill>
        <p:spPr>
          <a:xfrm>
            <a:off x="4082305" y="50117"/>
            <a:ext cx="1561915" cy="1437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039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0F3C2-35AD-BD36-F341-B44DA782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E94C370-74E8-DE01-F8E8-129BCE6B70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"/>
          </a:blip>
          <a:srcRect l="19826" r="19239" b="26168"/>
          <a:stretch>
            <a:fillRect/>
          </a:stretch>
        </p:blipFill>
        <p:spPr>
          <a:xfrm>
            <a:off x="1" y="123567"/>
            <a:ext cx="1569308" cy="13438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EE2B82-0E54-7D4F-13EB-2D416A7610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E352E1-4D84-7BCC-183D-AB26FEB0CA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29029B-C2D1-C13D-25A2-E7200C6B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FF61D-AA45-0628-351D-317912EC7B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2D5F4-2847-DD1A-FA24-75B49221BA71}"/>
              </a:ext>
            </a:extLst>
          </p:cNvPr>
          <p:cNvSpPr txBox="1"/>
          <p:nvPr/>
        </p:nvSpPr>
        <p:spPr>
          <a:xfrm>
            <a:off x="2238565" y="12356"/>
            <a:ext cx="77148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An Illustrated Guide to K8S</a:t>
            </a:r>
          </a:p>
        </p:txBody>
      </p:sp>
      <p:pic>
        <p:nvPicPr>
          <p:cNvPr id="7" name="Online Media 6" descr="The Illustrated Children's Guide to Kubernetes">
            <a:hlinkClick r:id="" action="ppaction://media"/>
            <a:extLst>
              <a:ext uri="{FF2B5EF4-FFF2-40B4-BE49-F238E27FC236}">
                <a16:creationId xmlns:a16="http://schemas.microsoft.com/office/drawing/2014/main" id="{019A3B12-2C62-BC2C-BA02-A1491BD7388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485754" y="795508"/>
            <a:ext cx="9207908" cy="5202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B1A10C-8FA8-653C-FBA8-6E3C89ABB9E0}"/>
              </a:ext>
            </a:extLst>
          </p:cNvPr>
          <p:cNvSpPr txBox="1"/>
          <p:nvPr/>
        </p:nvSpPr>
        <p:spPr>
          <a:xfrm>
            <a:off x="4413139" y="6105193"/>
            <a:ext cx="3959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Nice video!! </a:t>
            </a:r>
            <a:r>
              <a:rPr lang="en-US" sz="4400" b="1" dirty="0">
                <a:latin typeface="Chalkboard" panose="03050602040202020205" pitchFamily="66" charset="77"/>
                <a:sym typeface="Wingdings" pitchFamily="2" charset="2"/>
              </a:rPr>
              <a:t></a:t>
            </a:r>
            <a:endParaRPr lang="en-US" sz="4400" b="1" dirty="0">
              <a:latin typeface="Chalkboard" panose="03050602040202020205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918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0F3C2-35AD-BD36-F341-B44DA782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E94C370-74E8-DE01-F8E8-129BCE6B70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rcRect l="19826" r="19239" b="26168"/>
          <a:stretch>
            <a:fillRect/>
          </a:stretch>
        </p:blipFill>
        <p:spPr>
          <a:xfrm>
            <a:off x="1" y="123567"/>
            <a:ext cx="1569308" cy="13438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EE2B82-0E54-7D4F-13EB-2D416A7610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E352E1-4D84-7BCC-183D-AB26FEB0CA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29029B-C2D1-C13D-25A2-E7200C6B6E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7FF61D-AA45-0628-351D-317912EC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pic>
        <p:nvPicPr>
          <p:cNvPr id="18434" name="Picture 2">
            <a:extLst>
              <a:ext uri="{FF2B5EF4-FFF2-40B4-BE49-F238E27FC236}">
                <a16:creationId xmlns:a16="http://schemas.microsoft.com/office/drawing/2014/main" id="{303EF75C-2871-993A-44C3-C332E2582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" y="2601686"/>
            <a:ext cx="12192000" cy="4132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78BD05-50AB-505E-3430-7747ED17950D}"/>
              </a:ext>
            </a:extLst>
          </p:cNvPr>
          <p:cNvSpPr txBox="1"/>
          <p:nvPr/>
        </p:nvSpPr>
        <p:spPr>
          <a:xfrm>
            <a:off x="3068786" y="882674"/>
            <a:ext cx="60710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halkboard" panose="03050602040202020205" pitchFamily="66" charset="77"/>
                <a:hlinkClick r:id="rId5"/>
              </a:rPr>
              <a:t>https://www.cncf.io/phippy/</a:t>
            </a:r>
            <a:r>
              <a:rPr lang="en-US" sz="3200" b="1" dirty="0">
                <a:latin typeface="Chalkboard" panose="03050602040202020205" pitchFamily="66" charset="77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9C45E-CE26-01A7-4D24-ACF2C67067B0}"/>
              </a:ext>
            </a:extLst>
          </p:cNvPr>
          <p:cNvSpPr txBox="1"/>
          <p:nvPr/>
        </p:nvSpPr>
        <p:spPr>
          <a:xfrm>
            <a:off x="558919" y="1835960"/>
            <a:ext cx="110907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latin typeface="Chalkboard" panose="03050602040202020205" pitchFamily="66" charset="77"/>
              </a:rPr>
              <a:t>Phippy</a:t>
            </a:r>
            <a:r>
              <a:rPr lang="en-IN" sz="2400" dirty="0">
                <a:latin typeface="Chalkboard" panose="03050602040202020205" pitchFamily="66" charset="77"/>
              </a:rPr>
              <a:t> is a simple PHP app, exploring the cloud native world with her friends.</a:t>
            </a:r>
            <a:endParaRPr lang="en-US" sz="2400" dirty="0">
              <a:latin typeface="Chalkboard" panose="03050602040202020205" pitchFamily="66" charset="77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58CB675-9515-EECD-47A2-DA0793E99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9087" y="-26968"/>
            <a:ext cx="54104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4400" b="1" dirty="0">
                <a:latin typeface="Chalkboard" panose="03050602040202020205" pitchFamily="66" charset="77"/>
              </a:rPr>
              <a:t>PHIPPY &amp; FRIENDS</a:t>
            </a:r>
          </a:p>
        </p:txBody>
      </p:sp>
    </p:spTree>
    <p:extLst>
      <p:ext uri="{BB962C8B-B14F-4D97-AF65-F5344CB8AC3E}">
        <p14:creationId xmlns:p14="http://schemas.microsoft.com/office/powerpoint/2010/main" val="3065746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D35AB-75D0-B20A-1E00-1F232F32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56CE56A-C163-6CE1-ED8E-9B9681BF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"/>
          </a:blip>
          <a:srcRect l="19826" r="19239" b="26168"/>
          <a:stretch>
            <a:fillRect/>
          </a:stretch>
        </p:blipFill>
        <p:spPr>
          <a:xfrm>
            <a:off x="4508157" y="2069245"/>
            <a:ext cx="3175686" cy="2719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FE1AEB-108E-31DD-5F43-EC198AE376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3DCB96-1014-C5E3-7461-17A60FA9D1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E2F694-098F-6A68-B09A-0817DFAF3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A1BE7C-9E1A-0BED-CF04-697A8E4687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81C286-F91A-7222-314F-BB8C602084B3}"/>
              </a:ext>
            </a:extLst>
          </p:cNvPr>
          <p:cNvSpPr txBox="1"/>
          <p:nvPr/>
        </p:nvSpPr>
        <p:spPr>
          <a:xfrm>
            <a:off x="3329761" y="12356"/>
            <a:ext cx="55324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What is Kubescape?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BFC8-35A6-107C-4A79-1ED17CA368CD}"/>
              </a:ext>
            </a:extLst>
          </p:cNvPr>
          <p:cNvSpPr txBox="1"/>
          <p:nvPr/>
        </p:nvSpPr>
        <p:spPr>
          <a:xfrm>
            <a:off x="505286" y="781797"/>
            <a:ext cx="11135577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4000" b="1" i="0" u="none" strike="noStrike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Kubescape</a:t>
            </a:r>
            <a:r>
              <a:rPr lang="en-IN" sz="2800" b="0" i="0" u="none" strike="noStrike" dirty="0">
                <a:effectLst/>
                <a:latin typeface="Chalkboard" panose="03050602040202020205" pitchFamily="66" charset="77"/>
              </a:rPr>
              <a:t> is an </a:t>
            </a:r>
            <a:r>
              <a:rPr lang="en-IN" sz="2800" b="1" i="0" u="none" strike="noStrike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open-source</a:t>
            </a:r>
            <a:r>
              <a:rPr lang="en-IN" sz="2800" b="0" i="0" u="none" strike="noStrike" dirty="0">
                <a:effectLst/>
                <a:latin typeface="Chalkboard" panose="03050602040202020205" pitchFamily="66" charset="77"/>
              </a:rPr>
              <a:t> Kubernetes security platform designed to provide practical, end-to-end security for Kubernetes environments. </a:t>
            </a:r>
          </a:p>
          <a:p>
            <a:pPr algn="just"/>
            <a:endParaRPr lang="en-IN" sz="2800" dirty="0">
              <a:latin typeface="Chalkboard" panose="03050602040202020205" pitchFamily="66" charset="77"/>
            </a:endParaRPr>
          </a:p>
          <a:p>
            <a:pPr algn="just"/>
            <a:r>
              <a:rPr lang="en-IN" sz="2800" b="0" i="0" u="none" strike="noStrike" dirty="0">
                <a:effectLst/>
                <a:latin typeface="Chalkboard" panose="03050602040202020205" pitchFamily="66" charset="77"/>
              </a:rPr>
              <a:t>Kubescape was created by </a:t>
            </a:r>
            <a:r>
              <a:rPr lang="en-IN" sz="2800" b="1" i="0" u="none" strike="noStrike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ARMO</a:t>
            </a:r>
            <a:r>
              <a:rPr lang="en-IN" sz="2800" b="0" i="0" u="none" strike="noStrike" dirty="0">
                <a:effectLst/>
                <a:latin typeface="Chalkboard" panose="03050602040202020205" pitchFamily="66" charset="77"/>
              </a:rPr>
              <a:t> and is a Cloud Native Computing Foundation (CNCF) </a:t>
            </a:r>
            <a:r>
              <a:rPr lang="en-IN" sz="2800" b="1" i="0" u="none" strike="noStrike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incubating</a:t>
            </a:r>
            <a:r>
              <a:rPr lang="en-IN" sz="2800" b="0" i="0" u="none" strike="noStrike" dirty="0">
                <a:effectLst/>
                <a:latin typeface="Chalkboard" panose="03050602040202020205" pitchFamily="66" charset="77"/>
              </a:rPr>
              <a:t> project.</a:t>
            </a:r>
          </a:p>
          <a:p>
            <a:pPr algn="just"/>
            <a:endParaRPr lang="en-IN" sz="2400" dirty="0">
              <a:latin typeface="Chalkboard" panose="03050602040202020205" pitchFamily="66" charset="77"/>
            </a:endParaRPr>
          </a:p>
          <a:p>
            <a:pPr algn="ctr"/>
            <a:r>
              <a:rPr lang="en-IN" sz="2800" b="1" dirty="0">
                <a:latin typeface="Chalkboard" panose="03050602040202020205" pitchFamily="66" charset="77"/>
              </a:rPr>
              <a:t>Key capabilities: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D2F7F-ABB3-AC6B-FFDD-F3047105185B}"/>
              </a:ext>
            </a:extLst>
          </p:cNvPr>
          <p:cNvSpPr txBox="1"/>
          <p:nvPr/>
        </p:nvSpPr>
        <p:spPr>
          <a:xfrm>
            <a:off x="3091554" y="4488075"/>
            <a:ext cx="60088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Configuration and vulnerability scanning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Policy and compliance enforcement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Network policy and seccomp validation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Runtime detection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Developer and CI/CD integration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dirty="0">
                <a:latin typeface="Chalkboard" panose="03050602040202020205" pitchFamily="66" charset="77"/>
              </a:rPr>
              <a:t>Multi-cloud and distribution support</a:t>
            </a:r>
          </a:p>
        </p:txBody>
      </p:sp>
    </p:spTree>
    <p:extLst>
      <p:ext uri="{BB962C8B-B14F-4D97-AF65-F5344CB8AC3E}">
        <p14:creationId xmlns:p14="http://schemas.microsoft.com/office/powerpoint/2010/main" val="424834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8EAA6-D8F0-0990-EDA6-11AF3BA0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2ACEBEA-CB74-7F5F-AF5B-3B08A53C6C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34B1E5-7A05-F932-076E-92C2036BF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22F1ACE-E391-327D-98FF-88C1BAB5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65A5AF7-EFA8-823B-6DA7-E264CD02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A3466C-99AA-B483-C0A4-F730A2579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730"/>
          <a:stretch>
            <a:fillRect/>
          </a:stretch>
        </p:blipFill>
        <p:spPr>
          <a:xfrm>
            <a:off x="1569309" y="2648767"/>
            <a:ext cx="8529815" cy="4085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E6329E-B13E-F503-3DB5-A20ABE4BF6E1}"/>
              </a:ext>
            </a:extLst>
          </p:cNvPr>
          <p:cNvSpPr txBox="1"/>
          <p:nvPr/>
        </p:nvSpPr>
        <p:spPr>
          <a:xfrm>
            <a:off x="556054" y="954133"/>
            <a:ext cx="1077213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halkboard" panose="03050602040202020205" pitchFamily="66" charset="77"/>
              </a:rPr>
              <a:t>Under the hood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alkboard" panose="03050602040202020205" pitchFamily="66" charset="77"/>
              </a:rPr>
              <a:t>Kubescape uses </a:t>
            </a:r>
            <a:r>
              <a:rPr lang="en-US" sz="2400" b="1" dirty="0">
                <a:latin typeface="Chalkboard" panose="03050602040202020205" pitchFamily="66" charset="77"/>
              </a:rPr>
              <a:t>Open Policy Agent </a:t>
            </a:r>
            <a:r>
              <a:rPr lang="en-US" sz="2400" dirty="0">
                <a:latin typeface="Chalkboard" panose="03050602040202020205" pitchFamily="66" charset="77"/>
              </a:rPr>
              <a:t>to verify Kubernetes objects against a library of posture controls.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alkboard" panose="03050602040202020205" pitchFamily="66" charset="77"/>
              </a:rPr>
              <a:t>For image scanning, it uses </a:t>
            </a:r>
            <a:r>
              <a:rPr lang="en-US" sz="2400" b="1" dirty="0" err="1">
                <a:latin typeface="Chalkboard" panose="03050602040202020205" pitchFamily="66" charset="77"/>
              </a:rPr>
              <a:t>Grype</a:t>
            </a:r>
            <a:r>
              <a:rPr lang="en-US" sz="2400" dirty="0">
                <a:latin typeface="Chalkboard" panose="03050602040202020205" pitchFamily="66" charset="77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halkboard" panose="03050602040202020205" pitchFamily="66" charset="77"/>
              </a:rPr>
              <a:t>For image patching, it uses </a:t>
            </a:r>
            <a:r>
              <a:rPr lang="en-US" sz="2400" b="1" dirty="0">
                <a:latin typeface="Chalkboard" panose="03050602040202020205" pitchFamily="66" charset="77"/>
              </a:rPr>
              <a:t>Copacetic</a:t>
            </a:r>
            <a:r>
              <a:rPr lang="en-US" sz="2400" dirty="0">
                <a:latin typeface="Chalkboard" panose="03050602040202020205" pitchFamily="66" charset="77"/>
              </a:rPr>
              <a:t>. For </a:t>
            </a:r>
            <a:r>
              <a:rPr lang="en-US" sz="2400" dirty="0" err="1">
                <a:latin typeface="Chalkboard" panose="03050602040202020205" pitchFamily="66" charset="77"/>
              </a:rPr>
              <a:t>eBPF</a:t>
            </a:r>
            <a:r>
              <a:rPr lang="en-US" sz="2400" dirty="0">
                <a:latin typeface="Chalkboard" panose="03050602040202020205" pitchFamily="66" charset="77"/>
              </a:rPr>
              <a:t>, it uses </a:t>
            </a:r>
            <a:r>
              <a:rPr lang="en-US" sz="2400" b="1" dirty="0">
                <a:latin typeface="Chalkboard" panose="03050602040202020205" pitchFamily="66" charset="77"/>
              </a:rPr>
              <a:t>Inspektor </a:t>
            </a:r>
            <a:r>
              <a:rPr lang="en-US" sz="2400" b="1" dirty="0" err="1">
                <a:latin typeface="Chalkboard" panose="03050602040202020205" pitchFamily="66" charset="77"/>
              </a:rPr>
              <a:t>Gadet</a:t>
            </a:r>
            <a:r>
              <a:rPr lang="en-US" sz="2400" dirty="0">
                <a:latin typeface="Chalkboard" panose="03050602040202020205" pitchFamily="66" charset="77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F8C7B5-3B81-8463-1B2D-6E76FF92D0C5}"/>
              </a:ext>
            </a:extLst>
          </p:cNvPr>
          <p:cNvSpPr txBox="1"/>
          <p:nvPr/>
        </p:nvSpPr>
        <p:spPr>
          <a:xfrm>
            <a:off x="3329761" y="12356"/>
            <a:ext cx="55324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What is Kubescape?</a:t>
            </a:r>
          </a:p>
        </p:txBody>
      </p:sp>
    </p:spTree>
    <p:extLst>
      <p:ext uri="{BB962C8B-B14F-4D97-AF65-F5344CB8AC3E}">
        <p14:creationId xmlns:p14="http://schemas.microsoft.com/office/powerpoint/2010/main" val="1224695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A3558-58EC-0F67-8B0A-CE0A2CF6E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6574F2-59D4-2C9B-671E-D9D42F64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AC5DC8-082C-13AD-5690-9D47EB25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64BDD8-2EDF-07AE-1B25-D0D7A03FB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16AE2C-B8E6-5092-B75B-D453C56E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53B2B5-2477-3E2F-F0BB-F93B00265ED1}"/>
              </a:ext>
            </a:extLst>
          </p:cNvPr>
          <p:cNvSpPr txBox="1"/>
          <p:nvPr/>
        </p:nvSpPr>
        <p:spPr>
          <a:xfrm>
            <a:off x="3647124" y="26067"/>
            <a:ext cx="48977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effectLst>
                  <a:glow rad="101600">
                    <a:srgbClr val="FF7E79">
                      <a:alpha val="60000"/>
                    </a:srgbClr>
                  </a:glow>
                </a:effectLst>
                <a:latin typeface="Chalkboard" panose="03050602040202020205" pitchFamily="66" charset="77"/>
              </a:rPr>
              <a:t>The Core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7E5D4-4D1F-346D-8C5D-5607A16CB34F}"/>
              </a:ext>
            </a:extLst>
          </p:cNvPr>
          <p:cNvSpPr txBox="1"/>
          <p:nvPr/>
        </p:nvSpPr>
        <p:spPr>
          <a:xfrm>
            <a:off x="1356817" y="887338"/>
            <a:ext cx="9478364" cy="400110"/>
          </a:xfrm>
          <a:custGeom>
            <a:avLst/>
            <a:gdLst>
              <a:gd name="csX0" fmla="*/ 0 w 9478364"/>
              <a:gd name="csY0" fmla="*/ 0 h 400110"/>
              <a:gd name="csX1" fmla="*/ 582242 w 9478364"/>
              <a:gd name="csY1" fmla="*/ 0 h 400110"/>
              <a:gd name="csX2" fmla="*/ 974917 w 9478364"/>
              <a:gd name="csY2" fmla="*/ 0 h 400110"/>
              <a:gd name="csX3" fmla="*/ 1841511 w 9478364"/>
              <a:gd name="csY3" fmla="*/ 0 h 400110"/>
              <a:gd name="csX4" fmla="*/ 2423753 w 9478364"/>
              <a:gd name="csY4" fmla="*/ 0 h 400110"/>
              <a:gd name="csX5" fmla="*/ 3005995 w 9478364"/>
              <a:gd name="csY5" fmla="*/ 0 h 400110"/>
              <a:gd name="csX6" fmla="*/ 3872589 w 9478364"/>
              <a:gd name="csY6" fmla="*/ 0 h 400110"/>
              <a:gd name="csX7" fmla="*/ 4360047 w 9478364"/>
              <a:gd name="csY7" fmla="*/ 0 h 400110"/>
              <a:gd name="csX8" fmla="*/ 5226641 w 9478364"/>
              <a:gd name="csY8" fmla="*/ 0 h 400110"/>
              <a:gd name="csX9" fmla="*/ 6093234 w 9478364"/>
              <a:gd name="csY9" fmla="*/ 0 h 400110"/>
              <a:gd name="csX10" fmla="*/ 6770260 w 9478364"/>
              <a:gd name="csY10" fmla="*/ 0 h 400110"/>
              <a:gd name="csX11" fmla="*/ 7636853 w 9478364"/>
              <a:gd name="csY11" fmla="*/ 0 h 400110"/>
              <a:gd name="csX12" fmla="*/ 8219096 w 9478364"/>
              <a:gd name="csY12" fmla="*/ 0 h 400110"/>
              <a:gd name="csX13" fmla="*/ 8801338 w 9478364"/>
              <a:gd name="csY13" fmla="*/ 0 h 400110"/>
              <a:gd name="csX14" fmla="*/ 9478364 w 9478364"/>
              <a:gd name="csY14" fmla="*/ 0 h 400110"/>
              <a:gd name="csX15" fmla="*/ 9478364 w 9478364"/>
              <a:gd name="csY15" fmla="*/ 400110 h 400110"/>
              <a:gd name="csX16" fmla="*/ 8801338 w 9478364"/>
              <a:gd name="csY16" fmla="*/ 400110 h 400110"/>
              <a:gd name="csX17" fmla="*/ 7934745 w 9478364"/>
              <a:gd name="csY17" fmla="*/ 400110 h 400110"/>
              <a:gd name="csX18" fmla="*/ 7257719 w 9478364"/>
              <a:gd name="csY18" fmla="*/ 400110 h 400110"/>
              <a:gd name="csX19" fmla="*/ 6865044 w 9478364"/>
              <a:gd name="csY19" fmla="*/ 400110 h 400110"/>
              <a:gd name="csX20" fmla="*/ 6377585 w 9478364"/>
              <a:gd name="csY20" fmla="*/ 400110 h 400110"/>
              <a:gd name="csX21" fmla="*/ 5510992 w 9478364"/>
              <a:gd name="csY21" fmla="*/ 400110 h 400110"/>
              <a:gd name="csX22" fmla="*/ 4833966 w 9478364"/>
              <a:gd name="csY22" fmla="*/ 400110 h 400110"/>
              <a:gd name="csX23" fmla="*/ 4346507 w 9478364"/>
              <a:gd name="csY23" fmla="*/ 400110 h 400110"/>
              <a:gd name="csX24" fmla="*/ 3669481 w 9478364"/>
              <a:gd name="csY24" fmla="*/ 400110 h 400110"/>
              <a:gd name="csX25" fmla="*/ 3276806 w 9478364"/>
              <a:gd name="csY25" fmla="*/ 400110 h 400110"/>
              <a:gd name="csX26" fmla="*/ 2884131 w 9478364"/>
              <a:gd name="csY26" fmla="*/ 400110 h 400110"/>
              <a:gd name="csX27" fmla="*/ 2207105 w 9478364"/>
              <a:gd name="csY27" fmla="*/ 400110 h 400110"/>
              <a:gd name="csX28" fmla="*/ 1719646 w 9478364"/>
              <a:gd name="csY28" fmla="*/ 400110 h 400110"/>
              <a:gd name="csX29" fmla="*/ 947836 w 9478364"/>
              <a:gd name="csY29" fmla="*/ 400110 h 400110"/>
              <a:gd name="csX30" fmla="*/ 0 w 9478364"/>
              <a:gd name="csY30" fmla="*/ 400110 h 400110"/>
              <a:gd name="csX31" fmla="*/ 0 w 9478364"/>
              <a:gd name="csY31" fmla="*/ 0 h 4001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478364" h="400110" extrusionOk="0">
                <a:moveTo>
                  <a:pt x="0" y="0"/>
                </a:moveTo>
                <a:cubicBezTo>
                  <a:pt x="171569" y="3619"/>
                  <a:pt x="460903" y="1362"/>
                  <a:pt x="582242" y="0"/>
                </a:cubicBezTo>
                <a:cubicBezTo>
                  <a:pt x="703581" y="-1362"/>
                  <a:pt x="803224" y="14810"/>
                  <a:pt x="974917" y="0"/>
                </a:cubicBezTo>
                <a:cubicBezTo>
                  <a:pt x="1146610" y="-14810"/>
                  <a:pt x="1626064" y="35096"/>
                  <a:pt x="1841511" y="0"/>
                </a:cubicBezTo>
                <a:cubicBezTo>
                  <a:pt x="2056958" y="-35096"/>
                  <a:pt x="2173315" y="5672"/>
                  <a:pt x="2423753" y="0"/>
                </a:cubicBezTo>
                <a:cubicBezTo>
                  <a:pt x="2674191" y="-5672"/>
                  <a:pt x="2775855" y="-3031"/>
                  <a:pt x="3005995" y="0"/>
                </a:cubicBezTo>
                <a:cubicBezTo>
                  <a:pt x="3236135" y="3031"/>
                  <a:pt x="3444268" y="-15990"/>
                  <a:pt x="3872589" y="0"/>
                </a:cubicBezTo>
                <a:cubicBezTo>
                  <a:pt x="4300910" y="15990"/>
                  <a:pt x="4185986" y="3442"/>
                  <a:pt x="4360047" y="0"/>
                </a:cubicBezTo>
                <a:cubicBezTo>
                  <a:pt x="4534108" y="-3442"/>
                  <a:pt x="4875675" y="-28641"/>
                  <a:pt x="5226641" y="0"/>
                </a:cubicBezTo>
                <a:cubicBezTo>
                  <a:pt x="5577607" y="28641"/>
                  <a:pt x="5712249" y="11533"/>
                  <a:pt x="6093234" y="0"/>
                </a:cubicBezTo>
                <a:cubicBezTo>
                  <a:pt x="6474219" y="-11533"/>
                  <a:pt x="6534346" y="20181"/>
                  <a:pt x="6770260" y="0"/>
                </a:cubicBezTo>
                <a:cubicBezTo>
                  <a:pt x="7006174" y="-20181"/>
                  <a:pt x="7239806" y="-8637"/>
                  <a:pt x="7636853" y="0"/>
                </a:cubicBezTo>
                <a:cubicBezTo>
                  <a:pt x="8033900" y="8637"/>
                  <a:pt x="8016277" y="-17606"/>
                  <a:pt x="8219096" y="0"/>
                </a:cubicBezTo>
                <a:cubicBezTo>
                  <a:pt x="8421915" y="17606"/>
                  <a:pt x="8565530" y="-20648"/>
                  <a:pt x="8801338" y="0"/>
                </a:cubicBezTo>
                <a:cubicBezTo>
                  <a:pt x="9037146" y="20648"/>
                  <a:pt x="9192495" y="-11281"/>
                  <a:pt x="9478364" y="0"/>
                </a:cubicBezTo>
                <a:cubicBezTo>
                  <a:pt x="9462421" y="197273"/>
                  <a:pt x="9478512" y="219956"/>
                  <a:pt x="9478364" y="400110"/>
                </a:cubicBezTo>
                <a:cubicBezTo>
                  <a:pt x="9237506" y="401988"/>
                  <a:pt x="9047312" y="377439"/>
                  <a:pt x="8801338" y="400110"/>
                </a:cubicBezTo>
                <a:cubicBezTo>
                  <a:pt x="8555364" y="422781"/>
                  <a:pt x="8305478" y="399583"/>
                  <a:pt x="7934745" y="400110"/>
                </a:cubicBezTo>
                <a:cubicBezTo>
                  <a:pt x="7564012" y="400637"/>
                  <a:pt x="7511157" y="422816"/>
                  <a:pt x="7257719" y="400110"/>
                </a:cubicBezTo>
                <a:cubicBezTo>
                  <a:pt x="7004281" y="377404"/>
                  <a:pt x="7016283" y="412773"/>
                  <a:pt x="6865044" y="400110"/>
                </a:cubicBezTo>
                <a:cubicBezTo>
                  <a:pt x="6713806" y="387447"/>
                  <a:pt x="6484485" y="381877"/>
                  <a:pt x="6377585" y="400110"/>
                </a:cubicBezTo>
                <a:cubicBezTo>
                  <a:pt x="6270685" y="418343"/>
                  <a:pt x="5855232" y="407892"/>
                  <a:pt x="5510992" y="400110"/>
                </a:cubicBezTo>
                <a:cubicBezTo>
                  <a:pt x="5166752" y="392328"/>
                  <a:pt x="4996706" y="398714"/>
                  <a:pt x="4833966" y="400110"/>
                </a:cubicBezTo>
                <a:cubicBezTo>
                  <a:pt x="4671226" y="401506"/>
                  <a:pt x="4585112" y="414644"/>
                  <a:pt x="4346507" y="400110"/>
                </a:cubicBezTo>
                <a:cubicBezTo>
                  <a:pt x="4107902" y="385576"/>
                  <a:pt x="3885099" y="387290"/>
                  <a:pt x="3669481" y="400110"/>
                </a:cubicBezTo>
                <a:cubicBezTo>
                  <a:pt x="3453863" y="412930"/>
                  <a:pt x="3425194" y="413455"/>
                  <a:pt x="3276806" y="400110"/>
                </a:cubicBezTo>
                <a:cubicBezTo>
                  <a:pt x="3128418" y="386765"/>
                  <a:pt x="3027820" y="418396"/>
                  <a:pt x="2884131" y="400110"/>
                </a:cubicBezTo>
                <a:cubicBezTo>
                  <a:pt x="2740443" y="381824"/>
                  <a:pt x="2487248" y="418865"/>
                  <a:pt x="2207105" y="400110"/>
                </a:cubicBezTo>
                <a:cubicBezTo>
                  <a:pt x="1926962" y="381355"/>
                  <a:pt x="1926416" y="403511"/>
                  <a:pt x="1719646" y="400110"/>
                </a:cubicBezTo>
                <a:cubicBezTo>
                  <a:pt x="1512876" y="396709"/>
                  <a:pt x="1158801" y="365730"/>
                  <a:pt x="947836" y="400110"/>
                </a:cubicBezTo>
                <a:cubicBezTo>
                  <a:pt x="736871" y="434491"/>
                  <a:pt x="220664" y="354318"/>
                  <a:pt x="0" y="400110"/>
                </a:cubicBezTo>
                <a:cubicBezTo>
                  <a:pt x="-6452" y="263659"/>
                  <a:pt x="2678" y="135163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IN" sz="2000" b="1" i="1" dirty="0">
                <a:solidFill>
                  <a:srgbClr val="C00000"/>
                </a:solidFill>
                <a:latin typeface="Chalkboard" panose="03050602040202020205" pitchFamily="66" charset="77"/>
              </a:rPr>
              <a:t>Kubernetes security isn’t “broken,” but it is dangerously easy to get wrong. </a:t>
            </a:r>
            <a:endParaRPr lang="en-US" sz="2000" b="1" i="1" dirty="0">
              <a:solidFill>
                <a:srgbClr val="C00000"/>
              </a:solidFill>
              <a:latin typeface="Chalkboard" panose="03050602040202020205" pitchFamily="66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20A41C-F9D6-56C5-A957-D2E625B64FA8}"/>
              </a:ext>
            </a:extLst>
          </p:cNvPr>
          <p:cNvSpPr txBox="1"/>
          <p:nvPr/>
        </p:nvSpPr>
        <p:spPr>
          <a:xfrm>
            <a:off x="315684" y="1584555"/>
            <a:ext cx="11560629" cy="512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halkboard" panose="03050602040202020205" pitchFamily="66" charset="77"/>
              </a:rPr>
              <a:t>Kubernetes is exceedingly powerful for orchestrating containerized applications at scale. But without proper monitoring and observability—especially in self-managed infrastructure—it can quickly become a security disaster waiting to happen.</a:t>
            </a:r>
          </a:p>
          <a:p>
            <a:endParaRPr lang="en-IN" sz="2000" dirty="0">
              <a:latin typeface="Chalkboard" panose="03050602040202020205" pitchFamily="66" charset="77"/>
            </a:endParaRPr>
          </a:p>
          <a:p>
            <a:r>
              <a:rPr lang="en-IN" sz="2000" dirty="0">
                <a:latin typeface="Chalkboard" panose="03050602040202020205" pitchFamily="66" charset="77"/>
              </a:rPr>
              <a:t>Some of the common pitfalls are,</a:t>
            </a:r>
          </a:p>
          <a:p>
            <a:endParaRPr lang="en-IN" sz="1200" dirty="0">
              <a:latin typeface="Chalkboard" panose="03050602040202020205" pitchFamily="66" charset="77"/>
            </a:endParaRP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IN" sz="2000" dirty="0">
                <a:latin typeface="Chalkboard" panose="03050602040202020205" pitchFamily="66" charset="77"/>
              </a:rPr>
              <a:t>The Open Door to Kubernetes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Overly permissive Network Policies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Neglecting Real-time Security Monitoring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Unnecessary Exposure of Public Services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Version Drift, Outdated Kubernetes and A Patchwork of Vulnerabilities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Hardening Kubernetes Components – Beyond Defaults</a:t>
            </a:r>
          </a:p>
          <a:p>
            <a:pPr marL="1371600" lvl="2" indent="-457200">
              <a:lnSpc>
                <a:spcPct val="150000"/>
              </a:lnSpc>
              <a:buAutoNum type="arabicPeriod"/>
            </a:pPr>
            <a:r>
              <a:rPr lang="en-US" sz="2000" dirty="0">
                <a:latin typeface="Chalkboard" panose="03050602040202020205" pitchFamily="66" charset="77"/>
              </a:rPr>
              <a:t>The Tooling Stack For Augmenting Kubernetes Security</a:t>
            </a:r>
          </a:p>
        </p:txBody>
      </p:sp>
    </p:spTree>
    <p:extLst>
      <p:ext uri="{BB962C8B-B14F-4D97-AF65-F5344CB8AC3E}">
        <p14:creationId xmlns:p14="http://schemas.microsoft.com/office/powerpoint/2010/main" val="511503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345B5-6874-67B5-A18D-298FF733D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2B760ED-8C76-C082-05BE-466FFBA45C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rcRect l="19826" r="19239" b="26168"/>
          <a:stretch>
            <a:fillRect/>
          </a:stretch>
        </p:blipFill>
        <p:spPr>
          <a:xfrm>
            <a:off x="1" y="123567"/>
            <a:ext cx="1569308" cy="13438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8EB14B-4A1F-7722-E494-A13C7263FB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974044-E50D-787F-A217-495A0B9D0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AF176E-FF5B-4D5B-5F7E-8AB7BF60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80EA4C-C24B-B24C-1E00-927EEA03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EF9D09-F886-182F-BF18-F71945599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4" y="85938"/>
            <a:ext cx="4372639" cy="6648495"/>
          </a:xfrm>
          <a:prstGeom prst="rect">
            <a:avLst/>
          </a:prstGeom>
          <a:effectLst>
            <a:glow rad="101600">
              <a:srgbClr val="FF0000">
                <a:alpha val="60000"/>
              </a:srgb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2CAAAE-7B99-650C-B69A-C8FA3C9E2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751" y="85938"/>
            <a:ext cx="4099249" cy="6648494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973463-84FB-3B44-EF4F-7E99BBA83F5B}"/>
              </a:ext>
            </a:extLst>
          </p:cNvPr>
          <p:cNvSpPr txBox="1"/>
          <p:nvPr/>
        </p:nvSpPr>
        <p:spPr>
          <a:xfrm>
            <a:off x="4736358" y="1640470"/>
            <a:ext cx="300697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latin typeface="Chalkboard" panose="03050602040202020205" pitchFamily="66" charset="77"/>
              </a:rPr>
              <a:t>Privileged</a:t>
            </a:r>
          </a:p>
          <a:p>
            <a:pPr algn="ctr"/>
            <a:r>
              <a:rPr lang="en-US" sz="3200" b="1" dirty="0">
                <a:latin typeface="Chalkboard" panose="03050602040202020205" pitchFamily="66" charset="77"/>
              </a:rPr>
              <a:t>Containers</a:t>
            </a:r>
          </a:p>
          <a:p>
            <a:pPr algn="ctr"/>
            <a:endParaRPr lang="en-US" sz="3200" b="1" dirty="0">
              <a:latin typeface="Chalkboard" panose="03050602040202020205" pitchFamily="66" charset="77"/>
            </a:endParaRPr>
          </a:p>
          <a:p>
            <a:pPr algn="ctr"/>
            <a:r>
              <a:rPr lang="en-US" sz="3200" b="1" dirty="0">
                <a:latin typeface="Chalkboard" panose="03050602040202020205" pitchFamily="66" charset="77"/>
              </a:rPr>
              <a:t>vs</a:t>
            </a:r>
          </a:p>
          <a:p>
            <a:pPr algn="ctr"/>
            <a:endParaRPr lang="en-US" sz="3200" b="1" dirty="0">
              <a:latin typeface="Chalkboard" panose="03050602040202020205" pitchFamily="66" charset="77"/>
            </a:endParaRPr>
          </a:p>
          <a:p>
            <a:pPr algn="ctr"/>
            <a:r>
              <a:rPr lang="en-US" sz="3200" b="1" dirty="0">
                <a:latin typeface="Chalkboard" panose="03050602040202020205" pitchFamily="66" charset="77"/>
              </a:rPr>
              <a:t>Non-privileged</a:t>
            </a:r>
          </a:p>
          <a:p>
            <a:pPr algn="ctr"/>
            <a:r>
              <a:rPr lang="en-US" sz="3200" b="1" dirty="0">
                <a:latin typeface="Chalkboard" panose="03050602040202020205" pitchFamily="66" charset="77"/>
              </a:rPr>
              <a:t>Containers</a:t>
            </a:r>
          </a:p>
        </p:txBody>
      </p:sp>
    </p:spTree>
    <p:extLst>
      <p:ext uri="{BB962C8B-B14F-4D97-AF65-F5344CB8AC3E}">
        <p14:creationId xmlns:p14="http://schemas.microsoft.com/office/powerpoint/2010/main" val="250839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D22DE-EB56-19AD-2525-E4C39CF11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ABF743-8940-43E0-3CD3-CE5ABB6CC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46C896-2B9A-56E1-8EDF-D76F577FB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BC90E8-928B-E26D-BF9A-5E2EAC93E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FA4F1C-B40A-4D6B-42B6-F635668956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8D610D-4865-A267-4568-0006562B54FC}"/>
              </a:ext>
            </a:extLst>
          </p:cNvPr>
          <p:cNvSpPr txBox="1"/>
          <p:nvPr/>
        </p:nvSpPr>
        <p:spPr>
          <a:xfrm>
            <a:off x="556054" y="988851"/>
            <a:ext cx="10772130" cy="480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200" dirty="0">
                <a:latin typeface="Chalkboard" panose="03050602040202020205" pitchFamily="66" charset="77"/>
              </a:rPr>
              <a:t>A </a:t>
            </a:r>
            <a:r>
              <a:rPr lang="en-IN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security framework</a:t>
            </a:r>
            <a:r>
              <a:rPr lang="en-IN" sz="2200" dirty="0">
                <a:latin typeface="Chalkboard" panose="03050602040202020205" pitchFamily="66" charset="77"/>
              </a:rPr>
              <a:t> is a set of guidelines, best practices, or standards, usually codified as a number of </a:t>
            </a:r>
            <a:r>
              <a:rPr lang="en-IN" sz="2200" dirty="0">
                <a:latin typeface="Chalkboard" panose="03050602040202020205" pitchFamily="66" charset="77"/>
                <a:hlinkClick r:id="rId3"/>
              </a:rPr>
              <a:t>controls</a:t>
            </a:r>
            <a:r>
              <a:rPr lang="en-IN" sz="2200" dirty="0">
                <a:latin typeface="Chalkboard" panose="03050602040202020205" pitchFamily="66" charset="77"/>
              </a:rPr>
              <a:t>. Security frameworks are often published by government agencies or non-profit research centers. Many groups have published guidance on how to improve the security posture of a Kubernetes environment.</a:t>
            </a:r>
          </a:p>
          <a:p>
            <a:pPr algn="just"/>
            <a:endParaRPr lang="en-IN" sz="2200" dirty="0">
              <a:latin typeface="Chalkboard" panose="03050602040202020205" pitchFamily="66" charset="77"/>
            </a:endParaRPr>
          </a:p>
          <a:p>
            <a:pPr algn="just"/>
            <a:r>
              <a:rPr lang="en-IN" sz="2200" dirty="0">
                <a:latin typeface="Chalkboard" panose="03050602040202020205" pitchFamily="66" charset="77"/>
              </a:rPr>
              <a:t>By default, ARMO Platform validates against all available frameworks to verify how compliant your Kubernetes environment is with those frameworks.</a:t>
            </a:r>
          </a:p>
          <a:p>
            <a:pPr algn="just"/>
            <a:endParaRPr lang="en-IN" sz="2400" dirty="0">
              <a:latin typeface="Chalkboard" panose="03050602040202020205" pitchFamily="66" charset="77"/>
            </a:endParaRPr>
          </a:p>
          <a:p>
            <a:pPr algn="just"/>
            <a:r>
              <a:rPr lang="en-IN" sz="2400" dirty="0">
                <a:latin typeface="Chalkboard" panose="03050602040202020205" pitchFamily="66" charset="77"/>
              </a:rPr>
              <a:t>Commonly referenced security frameworks: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NSA-CISA Kubernetes Hardening Guide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CIS Benchmarks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  <a:latin typeface="Chalkboard" panose="03050602040202020205" pitchFamily="66" charset="77"/>
              </a:rPr>
              <a:t>MITRE ATT&amp;CK Threat Matrix</a:t>
            </a:r>
            <a:endParaRPr lang="en-US" sz="2400" b="1" dirty="0">
              <a:effectLst>
                <a:glow rad="63500">
                  <a:schemeClr val="accent6">
                    <a:satMod val="175000"/>
                    <a:alpha val="40000"/>
                  </a:schemeClr>
                </a:glow>
              </a:effectLst>
              <a:latin typeface="Chalkboard" panose="03050602040202020205" pitchFamily="66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AE487-28C1-45BA-E7D2-19CE3DCCF455}"/>
              </a:ext>
            </a:extLst>
          </p:cNvPr>
          <p:cNvSpPr txBox="1"/>
          <p:nvPr/>
        </p:nvSpPr>
        <p:spPr>
          <a:xfrm>
            <a:off x="3207388" y="6568"/>
            <a:ext cx="57772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Security Frameworks</a:t>
            </a:r>
          </a:p>
        </p:txBody>
      </p:sp>
    </p:spTree>
    <p:extLst>
      <p:ext uri="{BB962C8B-B14F-4D97-AF65-F5344CB8AC3E}">
        <p14:creationId xmlns:p14="http://schemas.microsoft.com/office/powerpoint/2010/main" val="336602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C6DE8-728D-EDEF-C412-17D24472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9FDBBA96-8A25-9A5A-1561-EACB12488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" y="-1"/>
            <a:ext cx="1218729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FEA65E-6EF2-09EE-CCE1-5BD7B9677B6C}"/>
              </a:ext>
            </a:extLst>
          </p:cNvPr>
          <p:cNvSpPr txBox="1"/>
          <p:nvPr/>
        </p:nvSpPr>
        <p:spPr>
          <a:xfrm>
            <a:off x="6350208" y="543698"/>
            <a:ext cx="4906797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itchFamily="82" charset="77"/>
              </a:rPr>
              <a:t>DEMO</a:t>
            </a:r>
          </a:p>
          <a:p>
            <a:pPr algn="ctr"/>
            <a:r>
              <a:rPr lang="en-US" sz="8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tencil" pitchFamily="82" charset="77"/>
              </a:rPr>
              <a:t>TIME!!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39C234-65B8-82F9-BD78-208E109B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77F18-D6C2-4680-1801-C22E48CA19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BAA809-A1D6-FE32-2972-3A01BD1E8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B27A9F-28D4-ABE6-3CE8-225BB0C79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</p:spTree>
    <p:extLst>
      <p:ext uri="{BB962C8B-B14F-4D97-AF65-F5344CB8AC3E}">
        <p14:creationId xmlns:p14="http://schemas.microsoft.com/office/powerpoint/2010/main" val="42202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BB92-A7F7-7311-6C3C-0E431267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7F92EB0-D021-AABD-A36F-53A71037D6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rcRect l="19826" r="19239" b="26168"/>
          <a:stretch>
            <a:fillRect/>
          </a:stretch>
        </p:blipFill>
        <p:spPr>
          <a:xfrm>
            <a:off x="1" y="123567"/>
            <a:ext cx="1569308" cy="13438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D355C5-8D8A-71FC-51AA-929CF84E9D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217DD8-E150-7686-9310-3988603D4F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>
            <a:off x="0" y="4712202"/>
            <a:ext cx="2162432" cy="2145798"/>
          </a:xfrm>
          <a:prstGeom prst="rtTriangl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8F0541D-8513-4BDE-4BE5-73E9FC503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6200000">
            <a:off x="10037885" y="4720519"/>
            <a:ext cx="2162432" cy="2145798"/>
          </a:xfrm>
          <a:prstGeom prst="rtTriangl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1BEEE-A27B-A32B-1355-0830592373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D29756-6394-33AF-5DE0-55F8F868BE7C}"/>
              </a:ext>
            </a:extLst>
          </p:cNvPr>
          <p:cNvSpPr txBox="1"/>
          <p:nvPr/>
        </p:nvSpPr>
        <p:spPr>
          <a:xfrm>
            <a:off x="4534771" y="26067"/>
            <a:ext cx="3122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halkboard" panose="03050602040202020205" pitchFamily="66" charset="77"/>
              </a:rPr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6F40D-4F90-43B3-4794-A18927597C1C}"/>
              </a:ext>
            </a:extLst>
          </p:cNvPr>
          <p:cNvSpPr txBox="1"/>
          <p:nvPr/>
        </p:nvSpPr>
        <p:spPr>
          <a:xfrm>
            <a:off x="784655" y="658117"/>
            <a:ext cx="1036945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halkboard" panose="03050602040202020205" pitchFamily="66" charset="77"/>
              </a:rPr>
              <a:t>Security Frameworks:</a:t>
            </a:r>
            <a:endParaRPr lang="en-US" sz="3600" b="1" dirty="0">
              <a:latin typeface="Chalkboard" panose="03050602040202020205" pitchFamily="66" charset="77"/>
              <a:hlinkClick r:id="rId4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4"/>
              </a:rPr>
              <a:t>https://www.cisecurity.org/cis-benchmarks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5"/>
              </a:rPr>
              <a:t>https://www.armosec.io/blog/nsa-cisa-kubernetes-hardening-guide/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6"/>
              </a:rPr>
              <a:t>https://microsoft.github.io/Threat-Matrix-for-Kubernetes/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endParaRPr lang="en-US" sz="2800" dirty="0">
              <a:latin typeface="Chalkboard" panose="03050602040202020205" pitchFamily="66" charset="77"/>
            </a:endParaRPr>
          </a:p>
          <a:p>
            <a:r>
              <a:rPr lang="en-US" sz="3600" b="1" dirty="0">
                <a:latin typeface="Chalkboard" panose="03050602040202020205" pitchFamily="66" charset="77"/>
              </a:rPr>
              <a:t>CNCF Blog: </a:t>
            </a:r>
          </a:p>
          <a:p>
            <a:r>
              <a:rPr lang="en-US" sz="2400" dirty="0">
                <a:latin typeface="Chalkboard" panose="03050602040202020205" pitchFamily="66" charset="77"/>
                <a:hlinkClick r:id="rId7"/>
              </a:rPr>
              <a:t>https://www.cncf.io/blog/2025/04/22/these-kubernetes-mistakes-will-make-you-an-easy-target-for-hackers/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endParaRPr lang="en-US" sz="2800" dirty="0">
              <a:latin typeface="Chalkboard" panose="03050602040202020205" pitchFamily="66" charset="77"/>
            </a:endParaRPr>
          </a:p>
          <a:p>
            <a:r>
              <a:rPr lang="en-US" sz="3600" b="1" dirty="0">
                <a:latin typeface="Chalkboard" panose="03050602040202020205" pitchFamily="66" charset="77"/>
              </a:rPr>
              <a:t>Kubescape: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8"/>
              </a:rPr>
              <a:t>https://kubescape.io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9"/>
              </a:rPr>
              <a:t>https://kubescape.io/docs/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10"/>
              </a:rPr>
              <a:t>https://kubescape.io/docs/controls/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halkboard" panose="03050602040202020205" pitchFamily="66" charset="77"/>
                <a:hlinkClick r:id="rId11"/>
              </a:rPr>
              <a:t>https://github.com/kubescape/regolibrary/tree/master/frameworks</a:t>
            </a:r>
            <a:r>
              <a:rPr lang="en-US" sz="2400" dirty="0">
                <a:latin typeface="Chalkboard" panose="03050602040202020205" pitchFamily="66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0662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1C364-E574-B632-74D0-919DBB1A6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503A4BE0-46B1-C4D0-4B98-809EA7B70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6" r="7162" b="24188"/>
          <a:stretch>
            <a:fillRect/>
          </a:stretch>
        </p:blipFill>
        <p:spPr bwMode="auto">
          <a:xfrm>
            <a:off x="0" y="4514764"/>
            <a:ext cx="12192000" cy="234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CCDBDD-5E17-D017-416B-D6C0D9531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10800000">
            <a:off x="10000350" y="-1"/>
            <a:ext cx="2191648" cy="2174789"/>
          </a:xfrm>
          <a:prstGeom prst="rtTriangle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9EFB5C-CA4F-5DC9-FFC2-A5DD9D46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05" t="14775" r="14925" b="15496"/>
          <a:stretch>
            <a:fillRect/>
          </a:stretch>
        </p:blipFill>
        <p:spPr>
          <a:xfrm rot="5400000">
            <a:off x="-8317" y="20673"/>
            <a:ext cx="2162432" cy="2145798"/>
          </a:xfrm>
          <a:prstGeom prst="rtTriangle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B35424-3529-E60E-B414-4FA120823A6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"/>
          </a:blip>
          <a:srcRect l="19826" r="19239" b="26168"/>
          <a:stretch>
            <a:fillRect/>
          </a:stretch>
        </p:blipFill>
        <p:spPr>
          <a:xfrm>
            <a:off x="1" y="123567"/>
            <a:ext cx="1569308" cy="13438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19ABE6-C889-1C73-DE4B-9D6532B2FE87}"/>
              </a:ext>
            </a:extLst>
          </p:cNvPr>
          <p:cNvSpPr txBox="1"/>
          <p:nvPr/>
        </p:nvSpPr>
        <p:spPr>
          <a:xfrm>
            <a:off x="811540" y="1927653"/>
            <a:ext cx="1056891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ln w="57150">
                  <a:solidFill>
                    <a:schemeClr val="accent3">
                      <a:lumMod val="60000"/>
                      <a:lumOff val="40000"/>
                    </a:schemeClr>
                  </a:solidFill>
                </a:ln>
                <a:solidFill>
                  <a:schemeClr val="accent2">
                    <a:lumMod val="75000"/>
                  </a:schemeClr>
                </a:solidFill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  <a:latin typeface="Stencil" pitchFamily="82" charset="77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3067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B801-5566-C9EA-F560-A5C2FD17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F11B-F531-5F42-93EB-F56BBE9DF843}" type="datetime1">
              <a:rPr lang="en-IN" smtClean="0"/>
              <a:t>24/04/26</a:t>
            </a:fld>
            <a:endParaRPr lang="en-US"/>
          </a:p>
        </p:txBody>
      </p:sp>
      <p:pic>
        <p:nvPicPr>
          <p:cNvPr id="6" name="Picture 5" descr="Different coloured question marks">
            <a:extLst>
              <a:ext uri="{FF2B5EF4-FFF2-40B4-BE49-F238E27FC236}">
                <a16:creationId xmlns:a16="http://schemas.microsoft.com/office/drawing/2014/main" id="{959CBBBF-1476-675B-6907-CE331CAD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" y="-1"/>
            <a:ext cx="12191776" cy="685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AA75BA-6237-A936-FD1F-BCFFE82C0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246" y="373093"/>
            <a:ext cx="4627891" cy="6165819"/>
          </a:xfrm>
          <a:prstGeom prst="round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854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1510</TotalTime>
  <Words>552</Words>
  <Application>Microsoft Macintosh PowerPoint</Application>
  <PresentationFormat>Widescreen</PresentationFormat>
  <Paragraphs>95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Chalkboard</vt:lpstr>
      <vt:lpstr>Stencil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Mohan Dhanasekaran</dc:creator>
  <cp:lastModifiedBy>Chandra Mohan Dhanasekaran</cp:lastModifiedBy>
  <cp:revision>36</cp:revision>
  <dcterms:created xsi:type="dcterms:W3CDTF">2026-04-24T04:03:36Z</dcterms:created>
  <dcterms:modified xsi:type="dcterms:W3CDTF">2026-04-25T05:14:34Z</dcterms:modified>
</cp:coreProperties>
</file>